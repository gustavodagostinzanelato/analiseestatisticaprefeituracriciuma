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83" r:id="rId3"/>
    <p:sldId id="353" r:id="rId4"/>
    <p:sldId id="358" r:id="rId5"/>
    <p:sldId id="357" r:id="rId6"/>
    <p:sldId id="359" r:id="rId7"/>
    <p:sldId id="360" r:id="rId8"/>
    <p:sldId id="361" r:id="rId9"/>
    <p:sldId id="362" r:id="rId10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95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5955661-5D34-451F-8D0F-1B91E081B57F}" v="12" dt="2026-03-22T16:17:26.861"/>
    <p1510:client id="{DAD84DB3-91C5-7848-65C5-5D5604D12E2F}" v="2102" dt="2026-03-22T18:44:50.71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62" autoAdjust="0"/>
    <p:restoredTop sz="94660"/>
  </p:normalViewPr>
  <p:slideViewPr>
    <p:cSldViewPr snapToGrid="0">
      <p:cViewPr varScale="1">
        <p:scale>
          <a:sx n="82" d="100"/>
          <a:sy n="82" d="100"/>
        </p:scale>
        <p:origin x="629" y="7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bio Bittencourt" userId="9399af9f441dfb25" providerId="LiveId" clId="{87FEEC51-4A4D-4000-AFF7-19B075429E2B}"/>
    <pc:docChg chg="undo redo custSel addSld delSld modSld sldOrd">
      <pc:chgData name="Fabio Bittencourt" userId="9399af9f441dfb25" providerId="LiveId" clId="{87FEEC51-4A4D-4000-AFF7-19B075429E2B}" dt="2026-03-22T16:17:26.861" v="5515" actId="478"/>
      <pc:docMkLst>
        <pc:docMk/>
      </pc:docMkLst>
      <pc:sldChg chg="modSp add del mod">
        <pc:chgData name="Fabio Bittencourt" userId="9399af9f441dfb25" providerId="LiveId" clId="{87FEEC51-4A4D-4000-AFF7-19B075429E2B}" dt="2026-03-22T16:17:09.719" v="5491" actId="2696"/>
        <pc:sldMkLst>
          <pc:docMk/>
          <pc:sldMk cId="1766138550" sldId="256"/>
        </pc:sldMkLst>
        <pc:spChg chg="mod">
          <ac:chgData name="Fabio Bittencourt" userId="9399af9f441dfb25" providerId="LiveId" clId="{87FEEC51-4A4D-4000-AFF7-19B075429E2B}" dt="2026-03-22T15:34:41.502" v="3625" actId="20577"/>
          <ac:spMkLst>
            <pc:docMk/>
            <pc:sldMk cId="1766138550" sldId="256"/>
            <ac:spMk id="2" creationId="{00000000-0000-0000-0000-000000000000}"/>
          </ac:spMkLst>
        </pc:spChg>
      </pc:sldChg>
      <pc:sldChg chg="modSp add del mod">
        <pc:chgData name="Fabio Bittencourt" userId="9399af9f441dfb25" providerId="LiveId" clId="{87FEEC51-4A4D-4000-AFF7-19B075429E2B}" dt="2026-03-22T16:17:10.082" v="5492" actId="2696"/>
        <pc:sldMkLst>
          <pc:docMk/>
          <pc:sldMk cId="3561290430" sldId="283"/>
        </pc:sldMkLst>
        <pc:spChg chg="mod">
          <ac:chgData name="Fabio Bittencourt" userId="9399af9f441dfb25" providerId="LiveId" clId="{87FEEC51-4A4D-4000-AFF7-19B075429E2B}" dt="2026-03-22T15:36:14.301" v="3646" actId="20577"/>
          <ac:spMkLst>
            <pc:docMk/>
            <pc:sldMk cId="3561290430" sldId="283"/>
            <ac:spMk id="2" creationId="{45DF7A50-522E-4800-8C58-F91A738D39AB}"/>
          </ac:spMkLst>
        </pc:spChg>
      </pc:sldChg>
      <pc:sldChg chg="modSp add del mod">
        <pc:chgData name="Fabio Bittencourt" userId="9399af9f441dfb25" providerId="LiveId" clId="{87FEEC51-4A4D-4000-AFF7-19B075429E2B}" dt="2026-03-22T16:17:10.402" v="5493" actId="2696"/>
        <pc:sldMkLst>
          <pc:docMk/>
          <pc:sldMk cId="2364201091" sldId="353"/>
        </pc:sldMkLst>
        <pc:spChg chg="mod">
          <ac:chgData name="Fabio Bittencourt" userId="9399af9f441dfb25" providerId="LiveId" clId="{87FEEC51-4A4D-4000-AFF7-19B075429E2B}" dt="2026-03-16T00:56:18.599" v="201" actId="20577"/>
          <ac:spMkLst>
            <pc:docMk/>
            <pc:sldMk cId="2364201091" sldId="353"/>
            <ac:spMk id="4" creationId="{0BC8D165-B75F-48D1-A8CB-4126C958CF61}"/>
          </ac:spMkLst>
        </pc:spChg>
        <pc:spChg chg="mod">
          <ac:chgData name="Fabio Bittencourt" userId="9399af9f441dfb25" providerId="LiveId" clId="{87FEEC51-4A4D-4000-AFF7-19B075429E2B}" dt="2026-03-22T15:44:34.509" v="4344" actId="20577"/>
          <ac:spMkLst>
            <pc:docMk/>
            <pc:sldMk cId="2364201091" sldId="353"/>
            <ac:spMk id="6" creationId="{8A0BAE10-A955-4236-9445-F72EEE14E523}"/>
          </ac:spMkLst>
        </pc:spChg>
      </pc:sldChg>
      <pc:sldChg chg="modSp add del mod">
        <pc:chgData name="Fabio Bittencourt" userId="9399af9f441dfb25" providerId="LiveId" clId="{87FEEC51-4A4D-4000-AFF7-19B075429E2B}" dt="2026-03-22T15:44:38.498" v="4345" actId="47"/>
        <pc:sldMkLst>
          <pc:docMk/>
          <pc:sldMk cId="3935226180" sldId="354"/>
        </pc:sldMkLst>
      </pc:sldChg>
      <pc:sldChg chg="modSp add del mod">
        <pc:chgData name="Fabio Bittencourt" userId="9399af9f441dfb25" providerId="LiveId" clId="{87FEEC51-4A4D-4000-AFF7-19B075429E2B}" dt="2026-03-22T15:44:39.072" v="4346" actId="47"/>
        <pc:sldMkLst>
          <pc:docMk/>
          <pc:sldMk cId="1023653757" sldId="355"/>
        </pc:sldMkLst>
      </pc:sldChg>
      <pc:sldChg chg="modSp add del mod">
        <pc:chgData name="Fabio Bittencourt" userId="9399af9f441dfb25" providerId="LiveId" clId="{87FEEC51-4A4D-4000-AFF7-19B075429E2B}" dt="2026-03-22T15:44:39.905" v="4347" actId="47"/>
        <pc:sldMkLst>
          <pc:docMk/>
          <pc:sldMk cId="508115430" sldId="356"/>
        </pc:sldMkLst>
      </pc:sldChg>
      <pc:sldChg chg="addSp delSp modSp add del mod">
        <pc:chgData name="Fabio Bittencourt" userId="9399af9f441dfb25" providerId="LiveId" clId="{87FEEC51-4A4D-4000-AFF7-19B075429E2B}" dt="2026-03-22T16:17:26.861" v="5515" actId="478"/>
        <pc:sldMkLst>
          <pc:docMk/>
          <pc:sldMk cId="2769824674" sldId="357"/>
        </pc:sldMkLst>
        <pc:spChg chg="mod">
          <ac:chgData name="Fabio Bittencourt" userId="9399af9f441dfb25" providerId="LiveId" clId="{87FEEC51-4A4D-4000-AFF7-19B075429E2B}" dt="2026-03-22T15:46:11.903" v="4374" actId="20577"/>
          <ac:spMkLst>
            <pc:docMk/>
            <pc:sldMk cId="2769824674" sldId="357"/>
            <ac:spMk id="4" creationId="{C5C551C4-AECB-AEFA-A4BA-72DE4D05E4C9}"/>
          </ac:spMkLst>
        </pc:spChg>
        <pc:spChg chg="mod">
          <ac:chgData name="Fabio Bittencourt" userId="9399af9f441dfb25" providerId="LiveId" clId="{87FEEC51-4A4D-4000-AFF7-19B075429E2B}" dt="2026-03-22T16:17:14.049" v="5508" actId="20577"/>
          <ac:spMkLst>
            <pc:docMk/>
            <pc:sldMk cId="2769824674" sldId="357"/>
            <ac:spMk id="6" creationId="{C6BABF5A-78D4-F82A-D7CB-238D385643C9}"/>
          </ac:spMkLst>
        </pc:spChg>
        <pc:picChg chg="add del mod">
          <ac:chgData name="Fabio Bittencourt" userId="9399af9f441dfb25" providerId="LiveId" clId="{87FEEC51-4A4D-4000-AFF7-19B075429E2B}" dt="2026-03-22T16:17:26.861" v="5515" actId="478"/>
          <ac:picMkLst>
            <pc:docMk/>
            <pc:sldMk cId="2769824674" sldId="357"/>
            <ac:picMk id="1026" creationId="{846DAEBC-9FFF-2627-99EE-37F37BF2052F}"/>
          </ac:picMkLst>
        </pc:picChg>
      </pc:sldChg>
      <pc:sldChg chg="modSp add del mod ord">
        <pc:chgData name="Fabio Bittencourt" userId="9399af9f441dfb25" providerId="LiveId" clId="{87FEEC51-4A4D-4000-AFF7-19B075429E2B}" dt="2026-03-22T16:17:10.762" v="5494" actId="2696"/>
        <pc:sldMkLst>
          <pc:docMk/>
          <pc:sldMk cId="850751447" sldId="358"/>
        </pc:sldMkLst>
        <pc:spChg chg="mod">
          <ac:chgData name="Fabio Bittencourt" userId="9399af9f441dfb25" providerId="LiveId" clId="{87FEEC51-4A4D-4000-AFF7-19B075429E2B}" dt="2026-03-22T15:44:56.079" v="4363" actId="20577"/>
          <ac:spMkLst>
            <pc:docMk/>
            <pc:sldMk cId="850751447" sldId="358"/>
            <ac:spMk id="2" creationId="{FB8FFC78-E2EF-7447-00DF-606150B77D44}"/>
          </ac:spMkLst>
        </pc:spChg>
      </pc:sldChg>
      <pc:sldChg chg="add del">
        <pc:chgData name="Fabio Bittencourt" userId="9399af9f441dfb25" providerId="LiveId" clId="{87FEEC51-4A4D-4000-AFF7-19B075429E2B}" dt="2026-03-22T16:17:24.330" v="5514" actId="47"/>
        <pc:sldMkLst>
          <pc:docMk/>
          <pc:sldMk cId="2010207375" sldId="359"/>
        </pc:sldMkLst>
      </pc:sldChg>
      <pc:sldChg chg="add del">
        <pc:chgData name="Fabio Bittencourt" userId="9399af9f441dfb25" providerId="LiveId" clId="{87FEEC51-4A4D-4000-AFF7-19B075429E2B}" dt="2026-03-22T16:16:54.442" v="5479"/>
        <pc:sldMkLst>
          <pc:docMk/>
          <pc:sldMk cId="3186137852" sldId="359"/>
        </pc:sldMkLst>
      </pc:sldChg>
    </pc:docChg>
  </pc:docChgLst>
  <pc:docChgLst>
    <pc:chgData name="Fabio Bittencourt" userId="9399af9f441dfb25" providerId="Windows Live" clId="Web-{DAD84DB3-91C5-7848-65C5-5D5604D12E2F}"/>
    <pc:docChg chg="addSld delSld modSld sldOrd">
      <pc:chgData name="Fabio Bittencourt" userId="9399af9f441dfb25" providerId="Windows Live" clId="Web-{DAD84DB3-91C5-7848-65C5-5D5604D12E2F}" dt="2026-03-22T18:44:50.718" v="2106" actId="20577"/>
      <pc:docMkLst>
        <pc:docMk/>
      </pc:docMkLst>
      <pc:sldChg chg="modSp">
        <pc:chgData name="Fabio Bittencourt" userId="9399af9f441dfb25" providerId="Windows Live" clId="Web-{DAD84DB3-91C5-7848-65C5-5D5604D12E2F}" dt="2026-03-22T16:24:11.707" v="707" actId="20577"/>
        <pc:sldMkLst>
          <pc:docMk/>
          <pc:sldMk cId="2769824674" sldId="357"/>
        </pc:sldMkLst>
        <pc:spChg chg="mod">
          <ac:chgData name="Fabio Bittencourt" userId="9399af9f441dfb25" providerId="Windows Live" clId="Web-{DAD84DB3-91C5-7848-65C5-5D5604D12E2F}" dt="2026-03-22T16:24:11.707" v="707" actId="20577"/>
          <ac:spMkLst>
            <pc:docMk/>
            <pc:sldMk cId="2769824674" sldId="357"/>
            <ac:spMk id="6" creationId="{C6BABF5A-78D4-F82A-D7CB-238D385643C9}"/>
          </ac:spMkLst>
        </pc:spChg>
      </pc:sldChg>
      <pc:sldChg chg="add replId">
        <pc:chgData name="Fabio Bittencourt" userId="9399af9f441dfb25" providerId="Windows Live" clId="Web-{DAD84DB3-91C5-7848-65C5-5D5604D12E2F}" dt="2026-03-22T16:21:02.622" v="258"/>
        <pc:sldMkLst>
          <pc:docMk/>
          <pc:sldMk cId="1248201444" sldId="359"/>
        </pc:sldMkLst>
      </pc:sldChg>
      <pc:sldChg chg="modSp add ord replId">
        <pc:chgData name="Fabio Bittencourt" userId="9399af9f441dfb25" providerId="Windows Live" clId="Web-{DAD84DB3-91C5-7848-65C5-5D5604D12E2F}" dt="2026-03-22T18:02:19.955" v="891" actId="20577"/>
        <pc:sldMkLst>
          <pc:docMk/>
          <pc:sldMk cId="3188560086" sldId="360"/>
        </pc:sldMkLst>
        <pc:spChg chg="mod">
          <ac:chgData name="Fabio Bittencourt" userId="9399af9f441dfb25" providerId="Windows Live" clId="Web-{DAD84DB3-91C5-7848-65C5-5D5604D12E2F}" dt="2026-03-22T18:02:19.955" v="891" actId="20577"/>
          <ac:spMkLst>
            <pc:docMk/>
            <pc:sldMk cId="3188560086" sldId="360"/>
            <ac:spMk id="6" creationId="{0AF2080C-DDE6-73CC-64A2-9C9968AE4789}"/>
          </ac:spMkLst>
        </pc:spChg>
      </pc:sldChg>
      <pc:sldChg chg="add del replId">
        <pc:chgData name="Fabio Bittencourt" userId="9399af9f441dfb25" providerId="Windows Live" clId="Web-{DAD84DB3-91C5-7848-65C5-5D5604D12E2F}" dt="2026-03-22T18:15:01.843" v="897"/>
        <pc:sldMkLst>
          <pc:docMk/>
          <pc:sldMk cId="2710748456" sldId="361"/>
        </pc:sldMkLst>
      </pc:sldChg>
      <pc:sldChg chg="modSp add ord replId">
        <pc:chgData name="Fabio Bittencourt" userId="9399af9f441dfb25" providerId="Windows Live" clId="Web-{DAD84DB3-91C5-7848-65C5-5D5604D12E2F}" dt="2026-03-22T18:33:34.206" v="1624" actId="1076"/>
        <pc:sldMkLst>
          <pc:docMk/>
          <pc:sldMk cId="3013982430" sldId="361"/>
        </pc:sldMkLst>
        <pc:spChg chg="mod">
          <ac:chgData name="Fabio Bittencourt" userId="9399af9f441dfb25" providerId="Windows Live" clId="Web-{DAD84DB3-91C5-7848-65C5-5D5604D12E2F}" dt="2026-03-22T18:33:34.206" v="1624" actId="1076"/>
          <ac:spMkLst>
            <pc:docMk/>
            <pc:sldMk cId="3013982430" sldId="361"/>
            <ac:spMk id="6" creationId="{05DD5ADB-6FCA-50B6-594D-BD9684A32C27}"/>
          </ac:spMkLst>
        </pc:spChg>
      </pc:sldChg>
      <pc:sldChg chg="add del ord replId">
        <pc:chgData name="Fabio Bittencourt" userId="9399af9f441dfb25" providerId="Windows Live" clId="Web-{DAD84DB3-91C5-7848-65C5-5D5604D12E2F}" dt="2026-03-22T18:14:57.905" v="896"/>
        <pc:sldMkLst>
          <pc:docMk/>
          <pc:sldMk cId="1422688890" sldId="362"/>
        </pc:sldMkLst>
      </pc:sldChg>
      <pc:sldChg chg="modSp add replId">
        <pc:chgData name="Fabio Bittencourt" userId="9399af9f441dfb25" providerId="Windows Live" clId="Web-{DAD84DB3-91C5-7848-65C5-5D5604D12E2F}" dt="2026-03-22T18:44:50.718" v="2106" actId="20577"/>
        <pc:sldMkLst>
          <pc:docMk/>
          <pc:sldMk cId="1624693146" sldId="362"/>
        </pc:sldMkLst>
        <pc:spChg chg="mod">
          <ac:chgData name="Fabio Bittencourt" userId="9399af9f441dfb25" providerId="Windows Live" clId="Web-{DAD84DB3-91C5-7848-65C5-5D5604D12E2F}" dt="2026-03-22T18:44:50.718" v="2106" actId="20577"/>
          <ac:spMkLst>
            <pc:docMk/>
            <pc:sldMk cId="1624693146" sldId="362"/>
            <ac:spMk id="6" creationId="{23BCCD4D-49FC-EF9E-7536-151959D3C66E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9ED787-ECF9-4317-9B3F-01368C487912}" type="datetimeFigureOut">
              <a:rPr lang="pt-BR" smtClean="0"/>
              <a:t>30/03/2026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B9BCC3-7EAB-4662-B118-F1D740721A4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055393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m 1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522658" y="-10003"/>
            <a:ext cx="6669342" cy="6868003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8DBC2051-7AF2-4D6F-9135-589CE4137C5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888" r="11351"/>
          <a:stretch/>
        </p:blipFill>
        <p:spPr>
          <a:xfrm>
            <a:off x="0" y="0"/>
            <a:ext cx="5336998" cy="6858000"/>
          </a:xfrm>
          <a:prstGeom prst="flowChartDelay">
            <a:avLst/>
          </a:prstGeom>
        </p:spPr>
      </p:pic>
      <p:pic>
        <p:nvPicPr>
          <p:cNvPr id="14" name="Imagem 13">
            <a:extLst>
              <a:ext uri="{FF2B5EF4-FFF2-40B4-BE49-F238E27FC236}">
                <a16:creationId xmlns:a16="http://schemas.microsoft.com/office/drawing/2014/main" id="{640B3ACD-FF88-40B0-8AD9-B0BC4EB9F40C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503141" y="2076426"/>
            <a:ext cx="2243122" cy="2705148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6246253" y="2678805"/>
            <a:ext cx="5808371" cy="831157"/>
          </a:xfrm>
        </p:spPr>
        <p:txBody>
          <a:bodyPr anchor="b">
            <a:normAutofit/>
          </a:bodyPr>
          <a:lstStyle>
            <a:lvl1pPr algn="l">
              <a:defRPr sz="4800">
                <a:solidFill>
                  <a:srgbClr val="003958"/>
                </a:solidFill>
                <a:latin typeface="Impact" panose="020B0806030902050204" pitchFamily="34" charset="0"/>
              </a:defRPr>
            </a:lvl1pPr>
          </a:lstStyle>
          <a:p>
            <a:r>
              <a:rPr lang="pt-BR" dirty="0"/>
              <a:t>Título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 hasCustomPrompt="1"/>
          </p:nvPr>
        </p:nvSpPr>
        <p:spPr>
          <a:xfrm>
            <a:off x="5522658" y="4845969"/>
            <a:ext cx="6553229" cy="476226"/>
          </a:xfrm>
        </p:spPr>
        <p:txBody>
          <a:bodyPr>
            <a:normAutofit/>
          </a:bodyPr>
          <a:lstStyle>
            <a:lvl1pPr marL="0" indent="0" algn="r">
              <a:buNone/>
              <a:defRPr sz="4000">
                <a:solidFill>
                  <a:srgbClr val="003958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 dirty="0"/>
              <a:t>Professor</a:t>
            </a:r>
          </a:p>
        </p:txBody>
      </p:sp>
    </p:spTree>
    <p:extLst>
      <p:ext uri="{BB962C8B-B14F-4D97-AF65-F5344CB8AC3E}">
        <p14:creationId xmlns:p14="http://schemas.microsoft.com/office/powerpoint/2010/main" val="18244204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164050" y="4554895"/>
            <a:ext cx="8762236" cy="2121676"/>
          </a:xfrm>
        </p:spPr>
        <p:txBody>
          <a:bodyPr>
            <a:normAutofit/>
          </a:bodyPr>
          <a:lstStyle>
            <a:lvl1pPr>
              <a:defRPr sz="6000" b="1">
                <a:solidFill>
                  <a:srgbClr val="003958"/>
                </a:solidFill>
                <a:latin typeface="Impact" panose="020B0806030902050204" pitchFamily="34" charset="0"/>
              </a:defRPr>
            </a:lvl1pPr>
          </a:lstStyle>
          <a:p>
            <a:r>
              <a:rPr lang="pt-BR" dirty="0"/>
              <a:t>Assunto</a:t>
            </a:r>
          </a:p>
        </p:txBody>
      </p:sp>
      <p:pic>
        <p:nvPicPr>
          <p:cNvPr id="9" name="Imagem 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85265" y="0"/>
            <a:ext cx="5715000" cy="3952875"/>
          </a:xfrm>
          <a:prstGeom prst="rect">
            <a:avLst/>
          </a:prstGeom>
        </p:spPr>
      </p:pic>
      <p:pic>
        <p:nvPicPr>
          <p:cNvPr id="10" name="Imagem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743950" y="0"/>
            <a:ext cx="344805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59600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88333" y="5705475"/>
            <a:ext cx="1000125" cy="1152525"/>
          </a:xfrm>
          <a:prstGeom prst="rect">
            <a:avLst/>
          </a:prstGeom>
        </p:spPr>
      </p:pic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10566398" y="5892800"/>
            <a:ext cx="1600200" cy="935266"/>
          </a:xfrm>
        </p:spPr>
        <p:txBody>
          <a:bodyPr/>
          <a:lstStyle>
            <a:lvl1pPr>
              <a:defRPr sz="6000">
                <a:solidFill>
                  <a:schemeClr val="bg1"/>
                </a:solidFill>
                <a:latin typeface="Impact" panose="020B0806030902050204" pitchFamily="34" charset="0"/>
              </a:defRPr>
            </a:lvl1pPr>
          </a:lstStyle>
          <a:p>
            <a:fld id="{F4E6BF57-4B4C-490B-A6E3-54A944D4DF67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7" name="Imagem 6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600200" cy="1524000"/>
          </a:xfrm>
          <a:prstGeom prst="rect">
            <a:avLst/>
          </a:prstGeom>
        </p:spPr>
      </p:pic>
      <p:sp>
        <p:nvSpPr>
          <p:cNvPr id="3" name="Espaço Reservado para Texto 2"/>
          <p:cNvSpPr>
            <a:spLocks noGrp="1"/>
          </p:cNvSpPr>
          <p:nvPr>
            <p:ph type="body" idx="1" hasCustomPrompt="1"/>
          </p:nvPr>
        </p:nvSpPr>
        <p:spPr>
          <a:xfrm>
            <a:off x="831850" y="1880057"/>
            <a:ext cx="10356483" cy="4491713"/>
          </a:xfrm>
        </p:spPr>
        <p:txBody>
          <a:bodyPr/>
          <a:lstStyle>
            <a:lvl1pPr marL="0" indent="0">
              <a:buNone/>
              <a:defRPr sz="2400" u="none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dirty="0"/>
              <a:t>Digite aqui</a:t>
            </a:r>
          </a:p>
        </p:txBody>
      </p:sp>
      <p:sp>
        <p:nvSpPr>
          <p:cNvPr id="12" name="Espaço Reservado para Texto 2"/>
          <p:cNvSpPr>
            <a:spLocks noGrp="1"/>
          </p:cNvSpPr>
          <p:nvPr>
            <p:ph type="body" idx="13" hasCustomPrompt="1"/>
          </p:nvPr>
        </p:nvSpPr>
        <p:spPr>
          <a:xfrm>
            <a:off x="831850" y="356058"/>
            <a:ext cx="11200493" cy="1182909"/>
          </a:xfrm>
        </p:spPr>
        <p:txBody>
          <a:bodyPr>
            <a:normAutofit/>
          </a:bodyPr>
          <a:lstStyle>
            <a:lvl1pPr marL="0" indent="0">
              <a:buNone/>
              <a:defRPr sz="4800" u="none">
                <a:solidFill>
                  <a:srgbClr val="003958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dirty="0"/>
              <a:t>Título</a:t>
            </a:r>
          </a:p>
        </p:txBody>
      </p:sp>
    </p:spTree>
    <p:extLst>
      <p:ext uri="{BB962C8B-B14F-4D97-AF65-F5344CB8AC3E}">
        <p14:creationId xmlns:p14="http://schemas.microsoft.com/office/powerpoint/2010/main" val="23567470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88333" y="5705475"/>
            <a:ext cx="1000125" cy="1152525"/>
          </a:xfrm>
          <a:prstGeom prst="rect">
            <a:avLst/>
          </a:prstGeom>
        </p:spPr>
      </p:pic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10566398" y="5892800"/>
            <a:ext cx="1600200" cy="935266"/>
          </a:xfrm>
        </p:spPr>
        <p:txBody>
          <a:bodyPr/>
          <a:lstStyle>
            <a:lvl1pPr>
              <a:defRPr sz="6000">
                <a:solidFill>
                  <a:schemeClr val="bg1"/>
                </a:solidFill>
                <a:latin typeface="Impact" panose="020B0806030902050204" pitchFamily="34" charset="0"/>
              </a:defRPr>
            </a:lvl1pPr>
          </a:lstStyle>
          <a:p>
            <a:fld id="{F4E6BF57-4B4C-490B-A6E3-54A944D4DF67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7" name="Imagem 6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600200" cy="1524000"/>
          </a:xfrm>
          <a:prstGeom prst="rect">
            <a:avLst/>
          </a:prstGeom>
        </p:spPr>
      </p:pic>
      <p:sp>
        <p:nvSpPr>
          <p:cNvPr id="12" name="Espaço Reservado para Texto 2"/>
          <p:cNvSpPr>
            <a:spLocks noGrp="1"/>
          </p:cNvSpPr>
          <p:nvPr>
            <p:ph type="body" idx="13" hasCustomPrompt="1"/>
          </p:nvPr>
        </p:nvSpPr>
        <p:spPr>
          <a:xfrm>
            <a:off x="831850" y="356058"/>
            <a:ext cx="11200493" cy="1182909"/>
          </a:xfrm>
        </p:spPr>
        <p:txBody>
          <a:bodyPr>
            <a:normAutofit/>
          </a:bodyPr>
          <a:lstStyle>
            <a:lvl1pPr marL="0" indent="0">
              <a:buNone/>
              <a:defRPr sz="4800" u="none">
                <a:solidFill>
                  <a:srgbClr val="003958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dirty="0"/>
              <a:t>Título</a:t>
            </a:r>
          </a:p>
        </p:txBody>
      </p:sp>
      <p:sp>
        <p:nvSpPr>
          <p:cNvPr id="9" name="Espaço Reservado para Texto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948773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88333" y="5705475"/>
            <a:ext cx="1000125" cy="1152525"/>
          </a:xfrm>
          <a:prstGeom prst="rect">
            <a:avLst/>
          </a:prstGeom>
        </p:spPr>
      </p:pic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10566398" y="5892800"/>
            <a:ext cx="1600200" cy="935266"/>
          </a:xfrm>
        </p:spPr>
        <p:txBody>
          <a:bodyPr/>
          <a:lstStyle>
            <a:lvl1pPr>
              <a:defRPr sz="6000">
                <a:solidFill>
                  <a:schemeClr val="bg1"/>
                </a:solidFill>
                <a:latin typeface="Impact" panose="020B0806030902050204" pitchFamily="34" charset="0"/>
              </a:defRPr>
            </a:lvl1pPr>
          </a:lstStyle>
          <a:p>
            <a:fld id="{F4E6BF57-4B4C-490B-A6E3-54A944D4DF67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7" name="Imagem 6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600200" cy="1524000"/>
          </a:xfrm>
          <a:prstGeom prst="rect">
            <a:avLst/>
          </a:prstGeom>
        </p:spPr>
      </p:pic>
      <p:sp>
        <p:nvSpPr>
          <p:cNvPr id="12" name="Espaço Reservado para Texto 2"/>
          <p:cNvSpPr>
            <a:spLocks noGrp="1"/>
          </p:cNvSpPr>
          <p:nvPr>
            <p:ph type="body" idx="13" hasCustomPrompt="1"/>
          </p:nvPr>
        </p:nvSpPr>
        <p:spPr>
          <a:xfrm>
            <a:off x="831850" y="356058"/>
            <a:ext cx="11200493" cy="1182909"/>
          </a:xfrm>
        </p:spPr>
        <p:txBody>
          <a:bodyPr>
            <a:normAutofit/>
          </a:bodyPr>
          <a:lstStyle>
            <a:lvl1pPr marL="0" indent="0">
              <a:buNone/>
              <a:defRPr sz="4800" u="none">
                <a:solidFill>
                  <a:srgbClr val="003958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dirty="0"/>
              <a:t>Título</a:t>
            </a:r>
          </a:p>
        </p:txBody>
      </p:sp>
      <p:sp>
        <p:nvSpPr>
          <p:cNvPr id="9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BR" dirty="0"/>
          </a:p>
        </p:txBody>
      </p:sp>
      <p:sp>
        <p:nvSpPr>
          <p:cNvPr id="10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16038316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88333" y="5705475"/>
            <a:ext cx="1000125" cy="1152525"/>
          </a:xfrm>
          <a:prstGeom prst="rect">
            <a:avLst/>
          </a:prstGeom>
        </p:spPr>
      </p:pic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10566398" y="5892800"/>
            <a:ext cx="1600200" cy="935266"/>
          </a:xfrm>
        </p:spPr>
        <p:txBody>
          <a:bodyPr/>
          <a:lstStyle>
            <a:lvl1pPr>
              <a:defRPr sz="6000">
                <a:solidFill>
                  <a:schemeClr val="bg1"/>
                </a:solidFill>
                <a:latin typeface="Impact" panose="020B0806030902050204" pitchFamily="34" charset="0"/>
              </a:defRPr>
            </a:lvl1pPr>
          </a:lstStyle>
          <a:p>
            <a:fld id="{F4E6BF57-4B4C-490B-A6E3-54A944D4DF67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7" name="Imagem 6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600200" cy="1524000"/>
          </a:xfrm>
          <a:prstGeom prst="rect">
            <a:avLst/>
          </a:prstGeom>
        </p:spPr>
      </p:pic>
      <p:sp>
        <p:nvSpPr>
          <p:cNvPr id="12" name="Espaço Reservado para Texto 2"/>
          <p:cNvSpPr>
            <a:spLocks noGrp="1"/>
          </p:cNvSpPr>
          <p:nvPr>
            <p:ph type="body" idx="13" hasCustomPrompt="1"/>
          </p:nvPr>
        </p:nvSpPr>
        <p:spPr>
          <a:xfrm>
            <a:off x="831850" y="356058"/>
            <a:ext cx="11200493" cy="1182909"/>
          </a:xfrm>
        </p:spPr>
        <p:txBody>
          <a:bodyPr>
            <a:normAutofit/>
          </a:bodyPr>
          <a:lstStyle>
            <a:lvl1pPr marL="0" indent="0">
              <a:buNone/>
              <a:defRPr sz="4800" u="none">
                <a:solidFill>
                  <a:srgbClr val="003958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dirty="0"/>
              <a:t>Título</a:t>
            </a:r>
          </a:p>
        </p:txBody>
      </p:sp>
      <p:sp>
        <p:nvSpPr>
          <p:cNvPr id="9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2612571"/>
            <a:ext cx="5181600" cy="3564392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BR" dirty="0"/>
          </a:p>
        </p:txBody>
      </p:sp>
      <p:sp>
        <p:nvSpPr>
          <p:cNvPr id="10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2612571"/>
            <a:ext cx="5181600" cy="3564392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11" name="Espaço Reservado para Texto 2"/>
          <p:cNvSpPr>
            <a:spLocks noGrp="1"/>
          </p:cNvSpPr>
          <p:nvPr>
            <p:ph type="body" idx="14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13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</p:spTree>
    <p:extLst>
      <p:ext uri="{BB962C8B-B14F-4D97-AF65-F5344CB8AC3E}">
        <p14:creationId xmlns:p14="http://schemas.microsoft.com/office/powerpoint/2010/main" val="32296359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dirty="0"/>
              <a:t>Editar estilos de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E6BF57-4B4C-490B-A6E3-54A944D4DF6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76353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2" r:id="rId4"/>
    <p:sldLayoutId id="2147483660" r:id="rId5"/>
    <p:sldLayoutId id="2147483661" r:id="rId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transparencia.betha.cloud/#/n4W91vnHptoBkiHKAxioOA==/dados-abertos?esconderCabecalho=S&amp;esconderMenu=S&amp;esconderRodape=S" TargetMode="Externa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267516" y="3239914"/>
            <a:ext cx="5808371" cy="831157"/>
          </a:xfrm>
        </p:spPr>
        <p:txBody>
          <a:bodyPr>
            <a:normAutofit fontScale="90000"/>
          </a:bodyPr>
          <a:lstStyle/>
          <a:p>
            <a:r>
              <a:rPr lang="pt-BR" dirty="0"/>
              <a:t>Estatística Aplicada – Aula 5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pt-BR" dirty="0"/>
              <a:t>Prof. Fábio de Bittencourt</a:t>
            </a:r>
          </a:p>
        </p:txBody>
      </p:sp>
    </p:spTree>
    <p:extLst>
      <p:ext uri="{BB962C8B-B14F-4D97-AF65-F5344CB8AC3E}">
        <p14:creationId xmlns:p14="http://schemas.microsoft.com/office/powerpoint/2010/main" val="17661385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7694"/>
    </mc:Choice>
    <mc:Fallback xmlns="">
      <p:transition spd="slow" advTm="97694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DF7A50-522E-4800-8C58-F91A738D39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Apresentação Trabalho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12904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4106"/>
    </mc:Choice>
    <mc:Fallback xmlns="">
      <p:transition spd="slow" advTm="34106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BC8D165-B75F-48D1-A8CB-4126C958CF61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 lang="pt-BR" dirty="0"/>
              <a:t>Trabalho Prático</a:t>
            </a:r>
            <a:endParaRPr lang="en-US" dirty="0"/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8A0BAE10-A955-4236-9445-F72EEE14E5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003958"/>
                </a:solidFill>
              </a:rPr>
              <a:t>Tivemos 6 grupos feitos na última aula e comentei que nessa aula vocês teriam a oportunidade de apresentar.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200" dirty="0">
              <a:solidFill>
                <a:srgbClr val="003958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003958"/>
                </a:solidFill>
              </a:rPr>
              <a:t>Essas são as regras da apresentação: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BR" sz="1800" dirty="0">
                <a:solidFill>
                  <a:srgbClr val="003958"/>
                </a:solidFill>
              </a:rPr>
              <a:t>Ela não é obrigatória: </a:t>
            </a:r>
            <a:r>
              <a:rPr lang="pt-BR" sz="1800" b="1" dirty="0">
                <a:solidFill>
                  <a:srgbClr val="003958"/>
                </a:solidFill>
              </a:rPr>
              <a:t>Quem deseja apresentar?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BR" sz="1800" dirty="0">
                <a:solidFill>
                  <a:srgbClr val="003958"/>
                </a:solidFill>
              </a:rPr>
              <a:t>Vocês tem 10 minutos pra apresentar, terminou os 10 minutos, acaba;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BR" sz="1800" dirty="0">
                <a:solidFill>
                  <a:srgbClr val="003958"/>
                </a:solidFill>
              </a:rPr>
              <a:t>Vocês vão apresentar apenas o(s) arquivo(s) que estão presentes no e-mail que vocês me enviaram;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BR" sz="1800" dirty="0">
                <a:solidFill>
                  <a:srgbClr val="003958"/>
                </a:solidFill>
              </a:rPr>
              <a:t>A apresentação vale até 1.5 pontos na nota;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BR" sz="1800" dirty="0">
                <a:solidFill>
                  <a:srgbClr val="003958"/>
                </a:solidFill>
              </a:rPr>
              <a:t>É válido dizer que os trabalhos já foram corrigidos e a maior nota foi 9,75 e a menor 4,2;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BR" sz="1800" dirty="0">
                <a:solidFill>
                  <a:srgbClr val="003958"/>
                </a:solidFill>
              </a:rPr>
              <a:t>E por último, eu não serei o avaliador.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pt-BR" sz="1800" dirty="0">
              <a:solidFill>
                <a:srgbClr val="003958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200" dirty="0">
              <a:solidFill>
                <a:srgbClr val="003958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200" dirty="0">
              <a:solidFill>
                <a:srgbClr val="00395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42010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91385"/>
    </mc:Choice>
    <mc:Fallback xmlns="">
      <p:transition spd="slow" advTm="191385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1D3FC5-6986-330D-82AB-94E426CB8D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8FFC78-E2EF-7447-00DF-606150B77D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Trabalho de Extensão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07514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4106"/>
    </mc:Choice>
    <mc:Fallback xmlns="">
      <p:transition spd="slow" advTm="34106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5F86A4-D3E7-ACA5-D66F-B156D4FE4C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5C551C4-AECB-AEFA-A4BA-72DE4D05E4C9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 lang="pt-BR" dirty="0"/>
              <a:t>Trabalho de Extensão</a:t>
            </a:r>
            <a:endParaRPr lang="en-US" dirty="0"/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C6BABF5A-78D4-F82A-D7CB-238D385643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003958"/>
                </a:solidFill>
              </a:rPr>
              <a:t>Como vocês sabem essa disciplina é uma das escolhidas para ter um projeto de </a:t>
            </a:r>
            <a:r>
              <a:rPr lang="pt-BR" sz="2200">
                <a:solidFill>
                  <a:srgbClr val="003958"/>
                </a:solidFill>
              </a:rPr>
              <a:t>extensão, portanto hoje damos o start para esse projeto, que será a nota mais "trabalhada" na matéria;</a:t>
            </a:r>
            <a:endParaRPr lang="pt-PT"/>
          </a:p>
          <a:p>
            <a:pPr marL="342900" indent="-342900">
              <a:buChar char="•"/>
            </a:pPr>
            <a:endParaRPr lang="pt-BR" sz="2200" dirty="0">
              <a:solidFill>
                <a:srgbClr val="003958"/>
              </a:solidFill>
              <a:ea typeface="Calibri" panose="020F0502020204030204"/>
              <a:cs typeface="Calibri" panose="020F0502020204030204"/>
            </a:endParaRPr>
          </a:p>
          <a:p>
            <a:pPr marL="342900" indent="-342900">
              <a:buChar char="•"/>
            </a:pPr>
            <a:r>
              <a:rPr lang="pt-BR" sz="2200">
                <a:solidFill>
                  <a:srgbClr val="003958"/>
                </a:solidFill>
                <a:ea typeface="Calibri" panose="020F0502020204030204"/>
                <a:cs typeface="Calibri" panose="020F0502020204030204"/>
              </a:rPr>
              <a:t>Ao longo do semestre, teremos 5 encontros totalmente dedicados ao projeto, onde vocês poderão desenvolver e mostrar evolução, além de fazer a apresentação do projeto que falarei mais sobre mais pra frente;</a:t>
            </a:r>
            <a:endParaRPr lang="pt-BR" sz="2200" dirty="0">
              <a:solidFill>
                <a:srgbClr val="003958"/>
              </a:solidFill>
              <a:ea typeface="Calibri" panose="020F0502020204030204"/>
              <a:cs typeface="Calibri" panose="020F0502020204030204"/>
            </a:endParaRPr>
          </a:p>
          <a:p>
            <a:pPr marL="342900" indent="-342900">
              <a:buChar char="•"/>
            </a:pPr>
            <a:endParaRPr lang="pt-BR" sz="2200" dirty="0">
              <a:solidFill>
                <a:srgbClr val="003958"/>
              </a:solidFill>
              <a:ea typeface="Calibri" panose="020F0502020204030204"/>
              <a:cs typeface="Calibri" panose="020F0502020204030204"/>
            </a:endParaRPr>
          </a:p>
          <a:p>
            <a:pPr marL="342900" indent="-342900">
              <a:buChar char="•"/>
            </a:pPr>
            <a:r>
              <a:rPr lang="pt-BR" sz="2200" dirty="0">
                <a:solidFill>
                  <a:srgbClr val="003958"/>
                </a:solidFill>
                <a:ea typeface="Calibri" panose="020F0502020204030204"/>
                <a:cs typeface="Calibri" panose="020F0502020204030204"/>
              </a:rPr>
              <a:t>Na última aula, vocês tiveram um "sabor" de resolver problemas, mas agora vocês vão resolver problemas de verdade, no modo Hard. E eu vou ser bem seletivo com os projetos de vocês já que alguns alunos disseram que eu peguei muito leve no último traba</a:t>
            </a:r>
            <a:r>
              <a:rPr lang="pt-BR" sz="2200">
                <a:solidFill>
                  <a:srgbClr val="003958"/>
                </a:solidFill>
                <a:ea typeface="Calibri" panose="020F0502020204030204"/>
                <a:cs typeface="Calibri" panose="020F0502020204030204"/>
              </a:rPr>
              <a:t>lho.</a:t>
            </a:r>
            <a:endParaRPr lang="pt-BR" sz="2200" dirty="0">
              <a:solidFill>
                <a:srgbClr val="003958"/>
              </a:solidFill>
              <a:ea typeface="Calibri" panose="020F0502020204030204"/>
              <a:cs typeface="Calibri" panose="020F0502020204030204"/>
            </a:endParaRPr>
          </a:p>
          <a:p>
            <a:pPr lvl="1"/>
            <a:endParaRPr lang="pt-BR" sz="2200" dirty="0">
              <a:solidFill>
                <a:srgbClr val="003958"/>
              </a:solidFill>
              <a:ea typeface="Calibri" panose="020F0502020204030204"/>
              <a:cs typeface="Calibri" panose="020F0502020204030204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200" dirty="0">
              <a:solidFill>
                <a:srgbClr val="003958"/>
              </a:solidFill>
              <a:ea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7698246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91385"/>
    </mc:Choice>
    <mc:Fallback xmlns="">
      <p:transition spd="slow" advTm="191385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81C550-B440-FD3E-A3DA-929E28F638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F95B576-EEF9-CADC-1B97-880F126B97E8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 lang="pt-BR" dirty="0"/>
              <a:t>Trabalho de Extensão</a:t>
            </a:r>
            <a:endParaRPr lang="en-US" dirty="0"/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E0DEC7C0-61A8-F128-1004-99FFDDC76D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200" b="1" dirty="0">
                <a:solidFill>
                  <a:srgbClr val="003958"/>
                </a:solidFill>
              </a:rPr>
              <a:t>Mas antes: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200" b="1" dirty="0">
              <a:solidFill>
                <a:srgbClr val="003958"/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BR" sz="1800" dirty="0">
                <a:solidFill>
                  <a:srgbClr val="003958"/>
                </a:solidFill>
              </a:rPr>
              <a:t>Agora que vocês terão mais tempo, mas já tiveram um gostinho de saber como trabalhar com suas equipes, tenho uma má notícia, vocês precisarão mudar suas equipes: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pt-BR" sz="1800" dirty="0">
              <a:solidFill>
                <a:srgbClr val="003958"/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BR" sz="1800" dirty="0">
                <a:solidFill>
                  <a:srgbClr val="003958"/>
                </a:solidFill>
              </a:rPr>
              <a:t>Para o projeto de extensão, as equipes serão </a:t>
            </a:r>
            <a:r>
              <a:rPr lang="pt-BR" sz="1800" b="1" dirty="0">
                <a:solidFill>
                  <a:srgbClr val="003958"/>
                </a:solidFill>
              </a:rPr>
              <a:t>QUARTETOS</a:t>
            </a:r>
            <a:r>
              <a:rPr lang="pt-BR" sz="1800" dirty="0">
                <a:solidFill>
                  <a:srgbClr val="003958"/>
                </a:solidFill>
              </a:rPr>
              <a:t>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pt-BR" sz="1800" dirty="0">
              <a:solidFill>
                <a:srgbClr val="003958"/>
              </a:solidFill>
              <a:ea typeface="Calibri" panose="020F0502020204030204"/>
              <a:cs typeface="Calibri" panose="020F0502020204030204"/>
            </a:endParaRPr>
          </a:p>
          <a:p>
            <a:pPr marL="800100" lvl="1" indent="-342900">
              <a:buChar char="•"/>
            </a:pPr>
            <a:r>
              <a:rPr lang="pt-BR" sz="1800">
                <a:solidFill>
                  <a:srgbClr val="003958"/>
                </a:solidFill>
                <a:ea typeface="Calibri" panose="020F0502020204030204"/>
                <a:cs typeface="Calibri" panose="020F0502020204030204"/>
              </a:rPr>
              <a:t>Com exceção do Artur e Gustavo que serão uma dupla;</a:t>
            </a:r>
            <a:endParaRPr lang="pt-BR" sz="1800" dirty="0">
              <a:solidFill>
                <a:srgbClr val="003958"/>
              </a:solidFill>
              <a:ea typeface="Calibri" panose="020F0502020204030204"/>
              <a:cs typeface="Calibri" panose="020F0502020204030204"/>
            </a:endParaRPr>
          </a:p>
          <a:p>
            <a:pPr marL="800100" lvl="1" indent="-342900">
              <a:buChar char="•"/>
            </a:pPr>
            <a:endParaRPr lang="pt-BR" sz="1800" dirty="0">
              <a:solidFill>
                <a:srgbClr val="003958"/>
              </a:solidFill>
              <a:ea typeface="Calibri" panose="020F0502020204030204"/>
              <a:cs typeface="Calibri" panose="020F0502020204030204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BR" sz="1800" dirty="0">
                <a:solidFill>
                  <a:srgbClr val="003958"/>
                </a:solidFill>
                <a:ea typeface="Calibri" panose="020F0502020204030204"/>
                <a:cs typeface="Calibri" panose="020F0502020204030204"/>
              </a:rPr>
              <a:t>Essa é a sua primeira tarefa para hoje, escolher as suas equipes, </a:t>
            </a:r>
            <a:r>
              <a:rPr lang="pt-BR" sz="1800" b="1">
                <a:solidFill>
                  <a:srgbClr val="003958"/>
                </a:solidFill>
                <a:ea typeface="Calibri" panose="020F0502020204030204"/>
                <a:cs typeface="Calibri" panose="020F0502020204030204"/>
              </a:rPr>
              <a:t>vocês têm</a:t>
            </a:r>
            <a:r>
              <a:rPr lang="pt-BR" sz="1800" b="1" dirty="0">
                <a:solidFill>
                  <a:srgbClr val="003958"/>
                </a:solidFill>
                <a:ea typeface="Calibri" panose="020F0502020204030204"/>
                <a:cs typeface="Calibri" panose="020F0502020204030204"/>
              </a:rPr>
              <a:t> 10 minutos para isso</a:t>
            </a:r>
            <a:r>
              <a:rPr lang="pt-BR" sz="1800" dirty="0">
                <a:solidFill>
                  <a:srgbClr val="003958"/>
                </a:solidFill>
                <a:ea typeface="Calibri" panose="020F0502020204030204"/>
                <a:cs typeface="Calibri" panose="020F0502020204030204"/>
              </a:rPr>
              <a:t>, </a:t>
            </a:r>
            <a:r>
              <a:rPr lang="pt-BR" sz="1800">
                <a:solidFill>
                  <a:srgbClr val="003958"/>
                </a:solidFill>
                <a:ea typeface="Calibri" panose="020F0502020204030204"/>
                <a:cs typeface="Calibri" panose="020F0502020204030204"/>
              </a:rPr>
              <a:t>escolham um representante que virá até mim e indicar as pessoas da sua equipe;</a:t>
            </a:r>
          </a:p>
          <a:p>
            <a:pPr marL="800100" lvl="1" indent="-342900">
              <a:buChar char="•"/>
            </a:pPr>
            <a:endParaRPr lang="pt-BR" sz="1800" dirty="0">
              <a:solidFill>
                <a:srgbClr val="003958"/>
              </a:solidFill>
              <a:ea typeface="Calibri" panose="020F0502020204030204"/>
              <a:cs typeface="Calibri" panose="020F0502020204030204"/>
            </a:endParaRPr>
          </a:p>
          <a:p>
            <a:pPr marL="800100" lvl="1" indent="-342900">
              <a:buChar char="•"/>
            </a:pPr>
            <a:r>
              <a:rPr lang="pt-BR" sz="1800" dirty="0">
                <a:solidFill>
                  <a:srgbClr val="003958"/>
                </a:solidFill>
                <a:ea typeface="Calibri" panose="020F0502020204030204"/>
                <a:cs typeface="Calibri" panose="020F0502020204030204"/>
              </a:rPr>
              <a:t>Quem não escolher uma equipe ou não estiver em sala, será sorteado em uma </a:t>
            </a:r>
            <a:r>
              <a:rPr lang="pt-BR" sz="1800">
                <a:solidFill>
                  <a:srgbClr val="003958"/>
                </a:solidFill>
                <a:ea typeface="Calibri" panose="020F0502020204030204"/>
                <a:cs typeface="Calibri" panose="020F0502020204030204"/>
              </a:rPr>
              <a:t>equipe.</a:t>
            </a:r>
            <a:endParaRPr lang="pt-BR" sz="1800" dirty="0">
              <a:solidFill>
                <a:srgbClr val="003958"/>
              </a:solidFill>
              <a:ea typeface="Calibri" panose="020F0502020204030204"/>
              <a:cs typeface="Calibri" panose="020F0502020204030204"/>
            </a:endParaRPr>
          </a:p>
          <a:p>
            <a:pPr marL="342900" indent="-342900">
              <a:buChar char="•"/>
            </a:pPr>
            <a:endParaRPr lang="pt-BR" sz="1800" dirty="0">
              <a:solidFill>
                <a:srgbClr val="003958"/>
              </a:solidFill>
              <a:ea typeface="Calibri" panose="020F0502020204030204"/>
              <a:cs typeface="Calibri" panose="020F0502020204030204"/>
            </a:endParaRPr>
          </a:p>
          <a:p>
            <a:pPr lvl="1"/>
            <a:endParaRPr lang="pt-BR" sz="2200" dirty="0">
              <a:solidFill>
                <a:srgbClr val="003958"/>
              </a:solidFill>
              <a:ea typeface="Calibri" panose="020F0502020204030204"/>
              <a:cs typeface="Calibri" panose="020F0502020204030204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200" dirty="0">
              <a:solidFill>
                <a:srgbClr val="003958"/>
              </a:solidFill>
              <a:ea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2482014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91385"/>
    </mc:Choice>
    <mc:Fallback xmlns="">
      <p:transition spd="slow" advTm="191385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33B9A3-A553-764D-DA8A-0432A9CC6E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5BDE69A-77F9-E7B9-C9BB-0EEA6F6CD1EB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 lang="pt-BR" dirty="0"/>
              <a:t>Trabalho de Extensão</a:t>
            </a:r>
            <a:endParaRPr lang="en-US" dirty="0"/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0AF2080C-DDE6-73CC-64A2-9C9968AE47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200">
                <a:solidFill>
                  <a:srgbClr val="003958"/>
                </a:solidFill>
              </a:rPr>
              <a:t>Como será a divisão da nota desse trabalho:</a:t>
            </a:r>
            <a:endParaRPr lang="pt-PT">
              <a:solidFill>
                <a:srgbClr val="000000"/>
              </a:solidFill>
              <a:ea typeface="Calibri" panose="020F0502020204030204"/>
              <a:cs typeface="Calibri" panose="020F0502020204030204"/>
            </a:endParaRPr>
          </a:p>
          <a:p>
            <a:pPr marL="800100" lvl="1" indent="-342900">
              <a:buFont typeface="Courier New" panose="020B0604020202020204" pitchFamily="34" charset="0"/>
              <a:buChar char="o"/>
            </a:pPr>
            <a:endParaRPr lang="pt-BR" sz="1800" dirty="0">
              <a:solidFill>
                <a:srgbClr val="003958"/>
              </a:solidFill>
              <a:ea typeface="Calibri" panose="020F0502020204030204"/>
              <a:cs typeface="Calibri" panose="020F0502020204030204"/>
            </a:endParaRPr>
          </a:p>
          <a:p>
            <a:pPr marL="800100" lvl="1" indent="-342900">
              <a:buFont typeface="Courier New" panose="020B0604020202020204" pitchFamily="34" charset="0"/>
              <a:buChar char="o"/>
            </a:pPr>
            <a:r>
              <a:rPr lang="pt-BR" sz="1800">
                <a:solidFill>
                  <a:srgbClr val="003958"/>
                </a:solidFill>
                <a:ea typeface="Calibri" panose="020F0502020204030204"/>
                <a:cs typeface="Calibri" panose="020F0502020204030204"/>
              </a:rPr>
              <a:t>Atividades do dia 25/03 (Hoje) - 1,0;</a:t>
            </a:r>
            <a:endParaRPr lang="pt-BR" sz="1800" dirty="0">
              <a:solidFill>
                <a:srgbClr val="003958"/>
              </a:solidFill>
              <a:ea typeface="Calibri" panose="020F0502020204030204"/>
              <a:cs typeface="Calibri" panose="020F0502020204030204"/>
            </a:endParaRPr>
          </a:p>
          <a:p>
            <a:pPr marL="800100" lvl="1" indent="-342900">
              <a:buFont typeface="Courier New" panose="020B0604020202020204" pitchFamily="34" charset="0"/>
              <a:buChar char="o"/>
            </a:pPr>
            <a:r>
              <a:rPr lang="pt-BR" sz="1800">
                <a:solidFill>
                  <a:srgbClr val="003958"/>
                </a:solidFill>
                <a:ea typeface="Calibri" panose="020F0502020204030204"/>
                <a:cs typeface="Calibri" panose="020F0502020204030204"/>
              </a:rPr>
              <a:t>Atividades do dia 22/04 - 1,0;</a:t>
            </a:r>
            <a:endParaRPr lang="pt-BR" sz="1800" dirty="0">
              <a:solidFill>
                <a:srgbClr val="003958"/>
              </a:solidFill>
              <a:ea typeface="Calibri" panose="020F0502020204030204"/>
              <a:cs typeface="Calibri" panose="020F0502020204030204"/>
            </a:endParaRPr>
          </a:p>
          <a:p>
            <a:pPr marL="800100" lvl="1" indent="-342900">
              <a:buFont typeface="Courier New" panose="020B0604020202020204" pitchFamily="34" charset="0"/>
              <a:buChar char="o"/>
            </a:pPr>
            <a:r>
              <a:rPr lang="pt-BR" sz="1800">
                <a:solidFill>
                  <a:srgbClr val="003958"/>
                </a:solidFill>
                <a:ea typeface="Calibri" panose="020F0502020204030204"/>
                <a:cs typeface="Calibri" panose="020F0502020204030204"/>
              </a:rPr>
              <a:t>Atividades do dia 14/05 - 1,0;</a:t>
            </a:r>
            <a:endParaRPr lang="pt-BR" sz="1800" dirty="0">
              <a:solidFill>
                <a:srgbClr val="003958"/>
              </a:solidFill>
              <a:ea typeface="Calibri" panose="020F0502020204030204"/>
              <a:cs typeface="Calibri" panose="020F0502020204030204"/>
            </a:endParaRPr>
          </a:p>
          <a:p>
            <a:pPr marL="800100" lvl="1" indent="-342900">
              <a:buFont typeface="Courier New" panose="020B0604020202020204" pitchFamily="34" charset="0"/>
              <a:buChar char="o"/>
            </a:pPr>
            <a:r>
              <a:rPr lang="pt-BR" sz="1800">
                <a:solidFill>
                  <a:srgbClr val="003958"/>
                </a:solidFill>
                <a:ea typeface="Calibri" panose="020F0502020204030204"/>
                <a:cs typeface="Calibri" panose="020F0502020204030204"/>
              </a:rPr>
              <a:t>Atividades do dia 03/06 - 1,0;</a:t>
            </a:r>
            <a:endParaRPr lang="pt-BR" sz="1800" dirty="0">
              <a:solidFill>
                <a:srgbClr val="003958"/>
              </a:solidFill>
              <a:ea typeface="Calibri" panose="020F0502020204030204"/>
              <a:cs typeface="Calibri" panose="020F0502020204030204"/>
            </a:endParaRPr>
          </a:p>
          <a:p>
            <a:pPr marL="800100" lvl="1" indent="-342900">
              <a:buFont typeface="Courier New" panose="020B0604020202020204" pitchFamily="34" charset="0"/>
              <a:buChar char="o"/>
            </a:pPr>
            <a:r>
              <a:rPr lang="pt-BR" sz="1800">
                <a:solidFill>
                  <a:srgbClr val="003958"/>
                </a:solidFill>
                <a:ea typeface="Calibri" panose="020F0502020204030204"/>
                <a:cs typeface="Calibri" panose="020F0502020204030204"/>
              </a:rPr>
              <a:t>Entrega final – 4,0 </a:t>
            </a:r>
            <a:r>
              <a:rPr lang="pt-BR" sz="1800" b="1">
                <a:solidFill>
                  <a:srgbClr val="003958"/>
                </a:solidFill>
                <a:ea typeface="Calibri" panose="020F0502020204030204"/>
                <a:cs typeface="Calibri" panose="020F0502020204030204"/>
              </a:rPr>
              <a:t>(Obrigatório)</a:t>
            </a:r>
            <a:r>
              <a:rPr lang="pt-BR" sz="1800">
                <a:solidFill>
                  <a:srgbClr val="003958"/>
                </a:solidFill>
                <a:ea typeface="Calibri" panose="020F0502020204030204"/>
                <a:cs typeface="Calibri" panose="020F0502020204030204"/>
              </a:rPr>
              <a:t>; </a:t>
            </a:r>
            <a:endParaRPr lang="pt-BR" sz="1800" dirty="0">
              <a:solidFill>
                <a:srgbClr val="003958"/>
              </a:solidFill>
              <a:ea typeface="Calibri" panose="020F0502020204030204"/>
              <a:cs typeface="Calibri" panose="020F0502020204030204"/>
            </a:endParaRPr>
          </a:p>
          <a:p>
            <a:pPr marL="800100" lvl="1" indent="-342900">
              <a:buFont typeface="Courier New" panose="020B0604020202020204" pitchFamily="34" charset="0"/>
              <a:buChar char="o"/>
            </a:pPr>
            <a:r>
              <a:rPr lang="pt-BR" sz="1800">
                <a:solidFill>
                  <a:srgbClr val="003958"/>
                </a:solidFill>
                <a:ea typeface="Calibri" panose="020F0502020204030204"/>
                <a:cs typeface="Calibri" panose="020F0502020204030204"/>
              </a:rPr>
              <a:t>Apresentação - 2,0 </a:t>
            </a:r>
            <a:r>
              <a:rPr lang="pt-BR" sz="1800" b="1">
                <a:solidFill>
                  <a:srgbClr val="003958"/>
                </a:solidFill>
                <a:ea typeface="Calibri" panose="020F0502020204030204"/>
                <a:cs typeface="Calibri" panose="020F0502020204030204"/>
              </a:rPr>
              <a:t>(Obrigatório)</a:t>
            </a:r>
            <a:r>
              <a:rPr lang="pt-BR" sz="1800">
                <a:solidFill>
                  <a:srgbClr val="003958"/>
                </a:solidFill>
                <a:ea typeface="Calibri" panose="020F0502020204030204"/>
                <a:cs typeface="Calibri" panose="020F0502020204030204"/>
              </a:rPr>
              <a:t>.</a:t>
            </a:r>
            <a:endParaRPr lang="pt-BR" sz="1800" dirty="0">
              <a:solidFill>
                <a:srgbClr val="003958"/>
              </a:solidFill>
              <a:ea typeface="Calibri" panose="020F0502020204030204"/>
              <a:cs typeface="Calibri" panose="020F0502020204030204"/>
            </a:endParaRPr>
          </a:p>
          <a:p>
            <a:pPr marL="800100" lvl="1" indent="-342900">
              <a:buFont typeface="Courier New" panose="020B0604020202020204" pitchFamily="34" charset="0"/>
              <a:buChar char="o"/>
            </a:pPr>
            <a:endParaRPr lang="pt-BR" sz="1800" dirty="0">
              <a:solidFill>
                <a:srgbClr val="003958"/>
              </a:solidFill>
              <a:ea typeface="Calibri" panose="020F0502020204030204"/>
              <a:cs typeface="Calibri" panose="020F0502020204030204"/>
            </a:endParaRPr>
          </a:p>
          <a:p>
            <a:pPr marL="800100" lvl="1" indent="-342900">
              <a:buFont typeface="Courier New" panose="020B0604020202020204" pitchFamily="34" charset="0"/>
              <a:buChar char="o"/>
            </a:pPr>
            <a:r>
              <a:rPr lang="pt-BR" sz="1800" b="1">
                <a:solidFill>
                  <a:srgbClr val="003958"/>
                </a:solidFill>
                <a:ea typeface="Calibri" panose="020F0502020204030204"/>
                <a:cs typeface="Calibri" panose="020F0502020204030204"/>
              </a:rPr>
              <a:t>Total </a:t>
            </a:r>
            <a:r>
              <a:rPr lang="pt-BR" sz="1800">
                <a:solidFill>
                  <a:srgbClr val="003958"/>
                </a:solidFill>
                <a:ea typeface="Calibri" panose="020F0502020204030204"/>
                <a:cs typeface="Calibri" panose="020F0502020204030204"/>
              </a:rPr>
              <a:t>– 10,0.</a:t>
            </a:r>
            <a:endParaRPr lang="pt-BR" sz="1800" dirty="0">
              <a:solidFill>
                <a:srgbClr val="003958"/>
              </a:solidFill>
              <a:ea typeface="Calibri" panose="020F0502020204030204"/>
              <a:cs typeface="Calibri" panose="020F0502020204030204"/>
            </a:endParaRPr>
          </a:p>
          <a:p>
            <a:pPr lvl="1"/>
            <a:endParaRPr lang="pt-BR" sz="2200" dirty="0">
              <a:solidFill>
                <a:srgbClr val="003958"/>
              </a:solidFill>
              <a:ea typeface="Calibri" panose="020F0502020204030204"/>
              <a:cs typeface="Calibri" panose="020F0502020204030204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200" dirty="0">
              <a:solidFill>
                <a:srgbClr val="003958"/>
              </a:solidFill>
              <a:ea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1885600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91385"/>
    </mc:Choice>
    <mc:Fallback xmlns="">
      <p:transition spd="slow" advTm="191385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3DB059-5C75-23DF-B622-91612E0343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29BD4815-C7F2-0D5C-6991-37323E2BCBB9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 lang="pt-BR" dirty="0"/>
              <a:t>Trabalho de Extensão</a:t>
            </a:r>
            <a:endParaRPr lang="en-US" dirty="0"/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05DD5ADB-6FCA-50B6-594D-BD9684A32C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1440442"/>
            <a:ext cx="10356483" cy="4491713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b="1" dirty="0">
                <a:solidFill>
                  <a:srgbClr val="003958"/>
                </a:solidFill>
              </a:rPr>
              <a:t>Próxima atividade do Dia:</a:t>
            </a:r>
            <a:endParaRPr lang="pt-BR" sz="1800" b="1" dirty="0">
              <a:solidFill>
                <a:srgbClr val="003958"/>
              </a:solidFill>
              <a:ea typeface="Calibri"/>
              <a:cs typeface="Calibri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1800" b="1" dirty="0">
              <a:solidFill>
                <a:srgbClr val="003958"/>
              </a:solidFill>
              <a:ea typeface="Calibri"/>
              <a:cs typeface="Calibri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BR" sz="1800" dirty="0">
                <a:solidFill>
                  <a:srgbClr val="003958"/>
                </a:solidFill>
              </a:rPr>
              <a:t>Vocês já conhecem o conjunto de dados da prefeitura: </a:t>
            </a:r>
            <a:r>
              <a:rPr lang="pt-BR" sz="1800" dirty="0">
                <a:solidFill>
                  <a:srgbClr val="003958"/>
                </a:solidFill>
                <a:hlinkClick r:id="rId2"/>
              </a:rPr>
              <a:t>https://transparencia.betha.cloud/#/n4W91vnHptoBkiHKAxioOA==/dados-abertos?esconderCabecalho=S&amp;esconderMenu=S&amp;esconderRodape=S</a:t>
            </a:r>
            <a:endParaRPr lang="pt-BR" sz="1800" dirty="0">
              <a:ea typeface="Calibri"/>
              <a:cs typeface="Calibri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pt-BR" sz="1800" dirty="0">
              <a:solidFill>
                <a:srgbClr val="003958"/>
              </a:solidFill>
              <a:ea typeface="Calibri"/>
              <a:cs typeface="Calibri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BR" sz="1800" dirty="0">
                <a:solidFill>
                  <a:srgbClr val="003958"/>
                </a:solidFill>
              </a:rPr>
              <a:t>Agora vocês devem formular a pergunta problema do seu projeto de extensão, porém, temos algumas pequenas regras:</a:t>
            </a:r>
            <a:endParaRPr lang="pt-BR" sz="1800" dirty="0">
              <a:solidFill>
                <a:srgbClr val="898989"/>
              </a:solidFill>
              <a:ea typeface="Calibri"/>
              <a:cs typeface="Calibri"/>
            </a:endParaRPr>
          </a:p>
          <a:p>
            <a:pPr marL="1257300" lvl="2" indent="-342900">
              <a:buFont typeface="Wingdings" panose="020B0604020202020204" pitchFamily="34" charset="0"/>
              <a:buChar char="§"/>
            </a:pPr>
            <a:endParaRPr lang="pt-BR" dirty="0">
              <a:solidFill>
                <a:srgbClr val="003958"/>
              </a:solidFill>
              <a:ea typeface="Calibri" panose="020F0502020204030204"/>
              <a:cs typeface="Calibri" panose="020F0502020204030204"/>
            </a:endParaRPr>
          </a:p>
          <a:p>
            <a:pPr marL="1257300" lvl="2" indent="-342900">
              <a:buFont typeface="Wingdings" panose="020B0604020202020204" pitchFamily="34" charset="0"/>
              <a:buChar char="§"/>
            </a:pPr>
            <a:r>
              <a:rPr lang="pt-BR" dirty="0">
                <a:solidFill>
                  <a:srgbClr val="003958"/>
                </a:solidFill>
                <a:ea typeface="Calibri" panose="020F0502020204030204"/>
                <a:cs typeface="Calibri" panose="020F0502020204030204"/>
              </a:rPr>
              <a:t>Como devemos apresentar esse projeto para representantes da prefeitura nenhuma pergunta poderá criticar, investigar ou por dúvidas sobre os processos vigentes na prefeitura (não sejamos ingênuos);</a:t>
            </a:r>
          </a:p>
          <a:p>
            <a:pPr marL="1257300" lvl="2" indent="-342900">
              <a:buFont typeface="Wingdings" panose="020B0604020202020204" pitchFamily="34" charset="0"/>
              <a:buChar char="§"/>
            </a:pPr>
            <a:r>
              <a:rPr lang="pt-BR" dirty="0">
                <a:solidFill>
                  <a:srgbClr val="003958"/>
                </a:solidFill>
                <a:ea typeface="Calibri" panose="020F0502020204030204"/>
                <a:cs typeface="Calibri" panose="020F0502020204030204"/>
              </a:rPr>
              <a:t>As perguntas devem ser objetivas e possíveis de serem respondidas através da análise estatística (o que não foi bem assim na última aula);</a:t>
            </a:r>
          </a:p>
          <a:p>
            <a:pPr marL="1257300" lvl="2" indent="-342900">
              <a:buFont typeface="Wingdings" panose="020B0604020202020204" pitchFamily="34" charset="0"/>
              <a:buChar char="§"/>
            </a:pPr>
            <a:r>
              <a:rPr lang="pt-BR" dirty="0">
                <a:solidFill>
                  <a:srgbClr val="003958"/>
                </a:solidFill>
                <a:ea typeface="Calibri" panose="020F0502020204030204"/>
                <a:cs typeface="Calibri" panose="020F0502020204030204"/>
              </a:rPr>
              <a:t>Foquem na evolução da cidade, melhoria de processos e desenvolvimento para as pessoas;</a:t>
            </a:r>
          </a:p>
          <a:p>
            <a:pPr marL="1257300" lvl="2" indent="-342900">
              <a:buFont typeface="Wingdings" panose="020B0604020202020204" pitchFamily="34" charset="0"/>
              <a:buChar char="§"/>
            </a:pPr>
            <a:r>
              <a:rPr lang="pt-BR" dirty="0">
                <a:solidFill>
                  <a:srgbClr val="003958"/>
                </a:solidFill>
                <a:ea typeface="Calibri" panose="020F0502020204030204"/>
                <a:cs typeface="Calibri" panose="020F0502020204030204"/>
              </a:rPr>
              <a:t>E por fim, </a:t>
            </a:r>
            <a:r>
              <a:rPr lang="pt-BR" b="1" dirty="0">
                <a:solidFill>
                  <a:srgbClr val="003958"/>
                </a:solidFill>
                <a:ea typeface="Calibri" panose="020F0502020204030204"/>
                <a:cs typeface="Calibri" panose="020F0502020204030204"/>
              </a:rPr>
              <a:t>não poderão ter projetos similares ou idênticos</a:t>
            </a:r>
            <a:r>
              <a:rPr lang="pt-BR" dirty="0">
                <a:solidFill>
                  <a:srgbClr val="003958"/>
                </a:solidFill>
                <a:ea typeface="Calibri" panose="020F0502020204030204"/>
                <a:cs typeface="Calibri" panose="020F0502020204030204"/>
              </a:rPr>
              <a:t>. A regra é clara, a primeira equipe a entregar a mim a pergunta e ela for validada, ganha.</a:t>
            </a:r>
          </a:p>
          <a:p>
            <a:pPr marL="1257300" lvl="2" indent="-342900">
              <a:buFont typeface="Wingdings" panose="020B0604020202020204" pitchFamily="34" charset="0"/>
              <a:buChar char="§"/>
            </a:pPr>
            <a:endParaRPr lang="pt-BR" sz="1600" dirty="0">
              <a:solidFill>
                <a:srgbClr val="003958"/>
              </a:solidFill>
              <a:ea typeface="Calibri" panose="020F0502020204030204"/>
              <a:cs typeface="Calibri" panose="020F0502020204030204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pt-BR" sz="1800" dirty="0">
              <a:solidFill>
                <a:srgbClr val="003958"/>
              </a:solidFill>
              <a:ea typeface="Calibri" panose="020F0502020204030204"/>
              <a:cs typeface="Calibri" panose="020F0502020204030204"/>
            </a:endParaRPr>
          </a:p>
          <a:p>
            <a:pPr marL="342900" indent="-342900">
              <a:buChar char="•"/>
            </a:pPr>
            <a:endParaRPr lang="pt-BR" sz="1800" dirty="0">
              <a:solidFill>
                <a:srgbClr val="003958"/>
              </a:solidFill>
              <a:ea typeface="Calibri" panose="020F0502020204030204"/>
              <a:cs typeface="Calibri" panose="020F0502020204030204"/>
            </a:endParaRPr>
          </a:p>
          <a:p>
            <a:pPr lvl="1"/>
            <a:endParaRPr lang="pt-BR" sz="2200" dirty="0">
              <a:solidFill>
                <a:srgbClr val="003958"/>
              </a:solidFill>
              <a:ea typeface="Calibri" panose="020F0502020204030204"/>
              <a:cs typeface="Calibri" panose="020F0502020204030204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200" dirty="0">
              <a:solidFill>
                <a:srgbClr val="003958"/>
              </a:solidFill>
              <a:ea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0139824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91385"/>
    </mc:Choice>
    <mc:Fallback xmlns="">
      <p:transition spd="slow" advTm="191385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4F1EA3-E380-71FE-DEFE-8DBDFCFEDB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3E9F31C-3C67-CFE1-D84A-64CA770EF212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 lang="pt-BR" dirty="0"/>
              <a:t>Trabalho de Extensão</a:t>
            </a:r>
            <a:endParaRPr lang="en-US" dirty="0"/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23BCCD4D-49FC-EF9E-7536-151959D3C6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b="1" dirty="0">
                <a:solidFill>
                  <a:srgbClr val="003958"/>
                </a:solidFill>
              </a:rPr>
              <a:t>Atividade para casa:</a:t>
            </a:r>
            <a:endParaRPr lang="pt-BR" sz="1800" b="1" dirty="0">
              <a:solidFill>
                <a:srgbClr val="003958"/>
              </a:solidFill>
              <a:ea typeface="Calibri"/>
              <a:cs typeface="Calibri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1800" b="1" dirty="0">
              <a:solidFill>
                <a:srgbClr val="003958"/>
              </a:solidFill>
              <a:ea typeface="Calibri"/>
              <a:cs typeface="Calibri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BR" dirty="0">
                <a:solidFill>
                  <a:srgbClr val="003958"/>
                </a:solidFill>
                <a:highlight>
                  <a:srgbClr val="FFFF00"/>
                </a:highlight>
              </a:rPr>
              <a:t>Selecionem quais os arquivos dentre as 18 bases que vocês irão utilizar;</a:t>
            </a:r>
            <a:endParaRPr lang="pt-BR" dirty="0">
              <a:solidFill>
                <a:srgbClr val="898989"/>
              </a:solidFill>
              <a:highlight>
                <a:srgbClr val="FFFF00"/>
              </a:highlight>
              <a:ea typeface="Calibri" panose="020F0502020204030204"/>
              <a:cs typeface="Calibri" panose="020F0502020204030204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BR" dirty="0">
                <a:solidFill>
                  <a:srgbClr val="003958"/>
                </a:solidFill>
                <a:highlight>
                  <a:srgbClr val="FFFF00"/>
                </a:highlight>
                <a:ea typeface="Calibri" panose="020F0502020204030204"/>
                <a:cs typeface="Calibri" panose="020F0502020204030204"/>
              </a:rPr>
              <a:t>Vocês devem utilizar uma base final (já unificada) de pelo menos 20 mil registros;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BR" dirty="0">
                <a:solidFill>
                  <a:srgbClr val="003958"/>
                </a:solidFill>
                <a:highlight>
                  <a:srgbClr val="FFFF00"/>
                </a:highlight>
                <a:ea typeface="Calibri" panose="020F0502020204030204"/>
                <a:cs typeface="Calibri" panose="020F0502020204030204"/>
              </a:rPr>
              <a:t>Escolham a sua variável alvo;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BR" dirty="0">
                <a:solidFill>
                  <a:srgbClr val="003958"/>
                </a:solidFill>
                <a:highlight>
                  <a:srgbClr val="FFFF00"/>
                </a:highlight>
                <a:ea typeface="Calibri" panose="020F0502020204030204"/>
                <a:cs typeface="Calibri" panose="020F0502020204030204"/>
              </a:rPr>
              <a:t>Escolham pelo menos 25 variáveis que vocês acreditam que possuem relação com o fenômeno;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BR" dirty="0">
                <a:solidFill>
                  <a:srgbClr val="003958"/>
                </a:solidFill>
                <a:ea typeface="Calibri" panose="020F0502020204030204"/>
                <a:cs typeface="Calibri" panose="020F0502020204030204"/>
              </a:rPr>
              <a:t>Façam a correlação da variável alvo com as 25;</a:t>
            </a:r>
          </a:p>
          <a:p>
            <a:pPr marL="1257300" lvl="2" indent="-342900">
              <a:buFont typeface="Wingdings" panose="020B0604020202020204" pitchFamily="34" charset="0"/>
              <a:buChar char="§"/>
            </a:pPr>
            <a:r>
              <a:rPr lang="pt-BR" sz="2000" dirty="0">
                <a:solidFill>
                  <a:srgbClr val="003958"/>
                </a:solidFill>
                <a:ea typeface="Calibri" panose="020F0502020204030204"/>
                <a:cs typeface="Calibri" panose="020F0502020204030204"/>
              </a:rPr>
              <a:t>Destas pelo menos 15 devem ter menos que –0.3 ou mais que 0.3;</a:t>
            </a:r>
          </a:p>
          <a:p>
            <a:pPr marL="1257300" lvl="2" indent="-342900">
              <a:buFont typeface="Wingdings" panose="020B0604020202020204" pitchFamily="34" charset="0"/>
              <a:buChar char="§"/>
            </a:pPr>
            <a:r>
              <a:rPr lang="pt-BR" sz="2000" dirty="0">
                <a:solidFill>
                  <a:srgbClr val="003958"/>
                </a:solidFill>
                <a:ea typeface="Calibri" panose="020F0502020204030204"/>
                <a:cs typeface="Calibri" panose="020F0502020204030204"/>
              </a:rPr>
              <a:t>Caso não possuam, busquem mais 10 variáveis e repitam esse processo até que possuam 15 variáveis bem correlacionadas e a variável alvo (16 variáveis no total no mínimo).</a:t>
            </a:r>
          </a:p>
          <a:p>
            <a:pPr marL="1257300" lvl="2" indent="-342900">
              <a:buFont typeface="Wingdings" panose="020B0604020202020204" pitchFamily="34" charset="0"/>
              <a:buChar char="§"/>
            </a:pPr>
            <a:endParaRPr lang="pt-BR" sz="1600" dirty="0">
              <a:solidFill>
                <a:srgbClr val="003958"/>
              </a:solidFill>
              <a:ea typeface="Calibri" panose="020F0502020204030204"/>
              <a:cs typeface="Calibri" panose="020F0502020204030204"/>
            </a:endParaRPr>
          </a:p>
          <a:p>
            <a:pPr marL="800100" lvl="1" indent="-342900">
              <a:buChar char="•"/>
            </a:pPr>
            <a:endParaRPr lang="pt-BR" sz="1800" dirty="0">
              <a:solidFill>
                <a:srgbClr val="003958"/>
              </a:solidFill>
              <a:ea typeface="Calibri" panose="020F0502020204030204"/>
              <a:cs typeface="Calibri" panose="020F0502020204030204"/>
            </a:endParaRPr>
          </a:p>
          <a:p>
            <a:pPr marL="342900" indent="-342900">
              <a:buChar char="•"/>
            </a:pPr>
            <a:endParaRPr lang="pt-BR" sz="1800" dirty="0">
              <a:solidFill>
                <a:srgbClr val="003958"/>
              </a:solidFill>
              <a:ea typeface="Calibri" panose="020F0502020204030204"/>
              <a:cs typeface="Calibri" panose="020F0502020204030204"/>
            </a:endParaRPr>
          </a:p>
          <a:p>
            <a:pPr lvl="1"/>
            <a:endParaRPr lang="pt-BR" sz="2200" dirty="0">
              <a:solidFill>
                <a:srgbClr val="003958"/>
              </a:solidFill>
              <a:ea typeface="Calibri" panose="020F0502020204030204"/>
              <a:cs typeface="Calibri" panose="020F0502020204030204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200" dirty="0">
              <a:solidFill>
                <a:srgbClr val="003958"/>
              </a:solidFill>
              <a:ea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6246931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91385"/>
    </mc:Choice>
    <mc:Fallback xmlns="">
      <p:transition spd="slow" advTm="191385"/>
    </mc:Fallback>
  </mc:AlternateContent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presentação7" id="{59EF884D-FF5E-4FD0-A607-B5C961B47064}" vid="{A602817E-DF85-4F99-8FE9-FF6794F2241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Engenharia da Computação</Template>
  <TotalTime>13730</TotalTime>
  <Words>703</Words>
  <Application>Microsoft Office PowerPoint</Application>
  <PresentationFormat>Widescreen</PresentationFormat>
  <Paragraphs>72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6" baseType="lpstr">
      <vt:lpstr>Arial</vt:lpstr>
      <vt:lpstr>Calibri</vt:lpstr>
      <vt:lpstr>Calibri Light</vt:lpstr>
      <vt:lpstr>Courier New</vt:lpstr>
      <vt:lpstr>Impact</vt:lpstr>
      <vt:lpstr>Wingdings</vt:lpstr>
      <vt:lpstr>Tema do Office</vt:lpstr>
      <vt:lpstr>Estatística Aplicada – Aula 5</vt:lpstr>
      <vt:lpstr>Apresentação Trabalho</vt:lpstr>
      <vt:lpstr>Apresentação do PowerPoint</vt:lpstr>
      <vt:lpstr>Trabalho de Extensão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Daniel Basilio Marcelo</dc:creator>
  <cp:lastModifiedBy>Gustavo D'agostin Zanelato</cp:lastModifiedBy>
  <cp:revision>323</cp:revision>
  <dcterms:created xsi:type="dcterms:W3CDTF">2019-02-19T21:17:49Z</dcterms:created>
  <dcterms:modified xsi:type="dcterms:W3CDTF">2026-03-31T22:32:33Z</dcterms:modified>
</cp:coreProperties>
</file>